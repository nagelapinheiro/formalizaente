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</a:rPr>
              <a:t>FormalizaEnte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5361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Como tratamos os dados no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Raw preserva • Bronze registra • Silver trata • Gold responde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5087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RAW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fontes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0" y="3703320"/>
            <a:ext cx="150876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BRONZE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Delta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4880" y="3703320"/>
            <a:ext cx="150876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SILVER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tratamento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0" y="3703320"/>
            <a:ext cx="150876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GOLD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resposta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78240" y="3703320"/>
            <a:ext cx="150876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DASH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Jupyter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240280" y="4160520"/>
            <a:ext cx="41148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51960" y="4160520"/>
            <a:ext cx="41148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4160520"/>
            <a:ext cx="41148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75320" y="4160520"/>
            <a:ext cx="41148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A pergunta de negócio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pipeline existe para responder uma dúvida gerencial com rastreabilidade.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577840" cy="3108960"/>
          </a:xfrm>
          <a:prstGeom prst="roundRect">
            <a:avLst>
              <a:gd name="adj" fmla="val 35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856232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Qual é a taxa de cobertura das solicitações pelo FormalizaEnte, em qual esfera elas são resolvidas e como a cobertura varia por período, categoria e área?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56832" y="1371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RESPOSTA GERENCIAL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29400" y="1664208"/>
            <a:ext cx="4526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Mede cobertura: quantas solicitações válidas aparecem em REMUME, RESME ou RENAME.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670048"/>
            <a:ext cx="4526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Classifica a esfera: Município, Estado, União ou Não encontrado.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29400" y="3675888"/>
            <a:ext cx="45262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Mostra recortes: mês, área de origem, categoria e ambiguidade.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9400" y="489204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2552" y="4969764"/>
            <a:ext cx="2139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A34A"/>
                </a:solidFill>
              </a:rPr>
              <a:t>A consulta final só lê GOLD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098280" y="4892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71432" y="4969764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</a:rPr>
              <a:t>Sem regra no dashboard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Arquitetura física ajustada ao padrão Medallion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As camadas agora aparecem no storage como na PoC da professora.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192024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RAW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CSV • JSON • XLSX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71800" y="1874520"/>
            <a:ext cx="192024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BRONZE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Delta Lake + histórico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85232" y="1874520"/>
            <a:ext cx="1920240" cy="105156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SILVER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Parquet tratado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98664" y="1874520"/>
            <a:ext cx="192024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GOLD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Parquet analítico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12096" y="1874520"/>
            <a:ext cx="192024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JUPYTER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consumo visual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587752" y="2404872"/>
            <a:ext cx="347472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901184" y="2404872"/>
            <a:ext cx="347472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214616" y="2404872"/>
            <a:ext cx="347472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528048" y="2404872"/>
            <a:ext cx="347472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data/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bronze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silver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gold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886200"/>
            <a:ext cx="70408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 ideia central para explicar: o dado caminha entre camadas. Cada etapa tem uma responsabilidade e deixa evidência no storage.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Fontes usadas no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Três formatos diferentes simulam dados recebidos de sistemas distintos.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108960" cy="2011680"/>
          </a:xfrm>
          <a:prstGeom prst="rect">
            <a:avLst/>
          </a:prstGeom>
          <a:solidFill>
            <a:srgbClr val="DBEAFE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solicitacoes.csv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Pedidos que serão analisados.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Ex.: item solicitado, área, responsável e lote.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508760"/>
            <a:ext cx="3108960" cy="2011680"/>
          </a:xfrm>
          <a:prstGeom prst="rect">
            <a:avLst/>
          </a:prstGeom>
          <a:solidFill>
            <a:srgbClr val="CCFBF1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listas_normativas.json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Amostra sintética de REMUME, RESME e RENAME.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É a referência para cobertura.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21040" y="1508760"/>
            <a:ext cx="3108960" cy="2011680"/>
          </a:xfrm>
          <a:prstGeom prst="rect">
            <a:avLst/>
          </a:prstGeom>
          <a:solidFill>
            <a:srgbClr val="DCFCE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areas_referencia.xlsx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Domínio de áreas válidas.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Evita regra fixa escrita diretamente no SQL.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Importante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As listas são sintéticas para a atividade. O resultado não representa cobertura oficial de listas reais.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Erros propositais colocados nos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Eles existem para demonstrar tratamento, qualidade e governança.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3566160" cy="3429000"/>
          </a:xfrm>
          <a:prstGeom prst="rect">
            <a:avLst/>
          </a:prstGeom>
          <a:solidFill>
            <a:srgbClr val="FEE2E2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Solicitações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espaços extras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acentuação inconsistente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datas inválidas/ausentes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ID ausente ou duplicado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item, área ou responsável inválido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07408" y="1371600"/>
            <a:ext cx="3566160" cy="3429000"/>
          </a:xfrm>
          <a:prstGeom prst="rect">
            <a:avLst/>
          </a:prstGeom>
          <a:solidFill>
            <a:srgbClr val="FEF3C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Listas normativas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diferenças de caixa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espaçamento inconsistente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item em mais de uma lista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registro incompleto para quarentena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56448" y="1371600"/>
            <a:ext cx="3566160" cy="3429000"/>
          </a:xfrm>
          <a:prstGeom prst="rect">
            <a:avLst/>
          </a:prstGeom>
          <a:solidFill>
            <a:srgbClr val="EDE9FE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Áreas de referência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área inativa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NAT-JUS duplicada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código ausente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registro legado com caixa/espaços inconsistentes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Mensagem para a professora: os erros não foram “apagados”; eles foram preservados, identificados e tratados nas camadas certas.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Ingestão: transportar, não decidir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Python leva as fontes para a Bronze sem aplicar regra de negócio.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201168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RAW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dado recebido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20116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PYTHON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src.pipeline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0" y="1645920"/>
            <a:ext cx="201168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BRONZE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Delta Lake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92640" y="1645920"/>
            <a:ext cx="182880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TIME TRAVEL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2+ versões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2130552"/>
            <a:ext cx="82296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852160" y="2130552"/>
            <a:ext cx="82296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778240" y="2130552"/>
            <a:ext cx="82296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703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O QUE NÃO ACONTECE NA INGESTÃO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87552" y="4146804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não limpa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331720" y="40690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04872" y="4146804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não deduplica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069080" y="40690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42232" y="4146804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não classifica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760720" y="40690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33872" y="4146804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não corrige valor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635240" y="4069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08392" y="4146804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C2626"/>
                </a:solidFill>
              </a:rPr>
              <a:t>não calcula métrica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14400" y="4709160"/>
            <a:ext cx="98755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Só entram metadados técnicos: número da linha, arquivo de origem e data/hora de ingestão. Isso garante rastreabilidade.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Silver: onde o tratamento realmente acontece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 dbt transforma o dado preservado em dado confiável.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971800" cy="2743200"/>
          </a:xfrm>
          <a:prstGeom prst="rect">
            <a:avLst/>
          </a:prstGeom>
          <a:solidFill>
            <a:srgbClr val="DCFCE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Staging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trim e caixa alta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remoção de acentos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datas com try_cast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campos originais preservados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2971800" cy="2743200"/>
          </a:xfrm>
          <a:prstGeom prst="rect">
            <a:avLst/>
          </a:prstGeom>
          <a:solidFill>
            <a:srgbClr val="CCFBF1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Intermediate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valida estrutura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detecta duplicidade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valida áreas ativas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separa válidos e quarentena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0" y="1417320"/>
            <a:ext cx="2971800" cy="2743200"/>
          </a:xfrm>
          <a:prstGeom prst="rect">
            <a:avLst/>
          </a:prstGeom>
          <a:solidFill>
            <a:srgbClr val="FEF3C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Quarentena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não descarta registros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grava motivo de invalidade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permite auditoria e reconciliação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Exemplo de decisão: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4590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data inválida → DATA_INVALIDA_OU_AUSENTE → quarantine_solicitacoes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Como tratamos ambiguidade entre listas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comparação com REMUME/RESME/RENAME só acontece depois da validação.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10312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Solicitação válida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item normalizado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0" y="1325880"/>
            <a:ext cx="146304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REMUME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Município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2423160"/>
            <a:ext cx="1463040" cy="73152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RESME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Estado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3520440"/>
            <a:ext cx="146304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RENAME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União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80360" y="2286000"/>
            <a:ext cx="640080" cy="41148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97880" y="2148840"/>
            <a:ext cx="178308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Seed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ref_listas.csv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66360" y="2514600"/>
            <a:ext cx="640080" cy="9144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58200" y="2148840"/>
            <a:ext cx="219456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Classificação final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esfera_resolucao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26680" y="2606040"/>
            <a:ext cx="64008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4983480"/>
            <a:ext cx="96926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Se o item aparece em mais de uma lista, a prioridade gera uma esfera única, mas a ambiguidade continua registrada.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Gold: dado pronto para responder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Depois do tratamento, a Gold concentra indicadores e recortes.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971800" cy="1051560"/>
          </a:xfrm>
          <a:prstGeom prst="rect">
            <a:avLst/>
          </a:prstGeom>
          <a:solidFill>
            <a:srgbClr val="FEF3C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fct_solicitacoes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Grão: uma linha por solicitação sintética válida.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2971800" cy="1051560"/>
          </a:xfrm>
          <a:prstGeom prst="rect">
            <a:avLst/>
          </a:prstGeom>
          <a:solidFill>
            <a:srgbClr val="DCFCE7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Indicadores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indicador_atendida, indicador_ambiguidade, esfera_resolucao.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75320" y="1417320"/>
            <a:ext cx="2971800" cy="1051560"/>
          </a:xfrm>
          <a:prstGeom prst="rect">
            <a:avLst/>
          </a:prstGeom>
          <a:solidFill>
            <a:srgbClr val="DBEAFE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Agregados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Cobertura geral, mensal, por área, por categoria e por esfera.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10287000" cy="114300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queries/resposta_negocio.sql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SELECT direto da Gold: sem WHERE de negócio, sem CASE de classificação, sem Raw, sem Bronze, sem Silver.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Resultado apurado pela Gold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Números do dataset sintético usado na PoC.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581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65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solicitações válidas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26280" y="1581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56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cobertas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75320" y="1581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6676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não encontradas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86,15%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8680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taxa de cobertura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2461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26280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11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17720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ambíguas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32461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75320" y="3410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16,92%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66760" y="3959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taxa de ambiguidade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486400"/>
            <a:ext cx="9875520" cy="594360"/>
          </a:xfrm>
          <a:prstGeom prst="rect">
            <a:avLst/>
          </a:prstGeom>
          <a:solidFill>
            <a:srgbClr val="FEE2E2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Interpretação correta: resultado válido apenas para a amostra sintética do projeto, não para listas oficiais completas.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Dashboard Jupyter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Camada de consumo para apresentar e explorar a Gold.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4754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  <a:defRPr sz="1400">
                <a:solidFill>
                  <a:srgbClr val="5F6774"/>
                </a:solidFill>
              </a:defRPr>
            </a:pPr>
            <a:r>
              <a:t>O notebook e o Streamlit leem somente tabelas Gold. O painel não recalcula regra de negócio; ele apenas apresenta KPIs e recortes já gerados pelo dbt.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2788920"/>
          </a:xfrm>
          <a:prstGeom prst="rect">
            <a:avLst/>
          </a:prstGeom>
          <a:solidFill>
            <a:srgbClr val="EDE9FE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Visualizações incluídas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KPIs executivos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distribuição por esfera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evolução mensal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cobertura por área e categoria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matriz área × esfera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ambiguidade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15544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GOLD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métricas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21040" y="1463040"/>
            <a:ext cx="155448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DuckDB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engine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241280" y="1463040"/>
            <a:ext cx="155448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Jupyter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dashboard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27432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875520" y="1920240"/>
            <a:ext cx="274320" cy="0"/>
          </a:xfrm>
          <a:prstGeom prst="line">
            <a:avLst/>
          </a:prstGeom>
          <a:noFill/>
          <a:ln w="2159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20840" y="3593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notebooks/dashboard_formalizaente.ipynb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46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FormalizaEnte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Roteiro de demonstração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Sequência simples para defender o pipeline em sala.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5029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1. Mostrar data/raw, data/bronze, data/silver e data/gold.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5029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2. Executar python -m src.pipeline e mostrar Bronze/Delta.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029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3. Executar dbt build e mostrar Silver/Gold gerados.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5029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4. Explicar quarentena e erros propositais.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5029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90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5. Abrir o dashboard Jupyter e apresentar os indicadores.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417320"/>
            <a:ext cx="4526280" cy="3337560"/>
          </a:xfrm>
          <a:prstGeom prst="roundRect">
            <a:avLst>
              <a:gd name="adj" fmla="val 328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12280" y="17373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Frase de fechamento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33172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Raw preserva, Bronze registra, Silver trata e Gold responde à pergunta de negócio.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FormalizaEnte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F5C"/>
                </a:solidFill>
              </a:defRPr>
            </a:pPr>
            <a:r>
              <a:t>DAG + Time Travel + Decisões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33271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774"/>
                </a:solidFill>
              </a:defRPr>
            </a:pPr>
            <a:r>
              <a:t>Bloco obrigatório da apresentação: linhagem, histórico Delta e duas escolhas do DECISOES.md.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9659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 rIns="73152"/>
          <a:lstStyle/>
          <a:p>
            <a:pPr algn="ctr">
              <a:defRPr sz="1400" b="1">
                <a:solidFill>
                  <a:srgbClr val="182F5C"/>
                </a:solidFill>
              </a:defRPr>
            </a:pPr>
            <a:r>
              <a:t>BRONZE</a:t>
            </a:r>
          </a:p>
          <a:p>
            <a:pPr algn="ctr">
              <a:defRPr sz="850">
                <a:solidFill>
                  <a:srgbClr val="5F6774"/>
                </a:solidFill>
              </a:defRPr>
            </a:pPr>
            <a:r>
              <a:t>source() + Delta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78308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6FEB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3472" y="1600200"/>
            <a:ext cx="19659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 rIns="73152"/>
          <a:lstStyle/>
          <a:p>
            <a:pPr algn="ctr">
              <a:defRPr sz="1400" b="1">
                <a:solidFill>
                  <a:srgbClr val="182F5C"/>
                </a:solidFill>
              </a:defRPr>
            </a:pPr>
            <a:r>
              <a:t>STAGING</a:t>
            </a:r>
          </a:p>
          <a:p>
            <a:pPr algn="ctr">
              <a:defRPr sz="850">
                <a:solidFill>
                  <a:srgbClr val="5F6774"/>
                </a:solidFill>
              </a:defRPr>
            </a:pPr>
            <a:r>
              <a:t>tipagem/normalização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1" y="178308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6FE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4024" y="1600200"/>
            <a:ext cx="19659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 rIns="73152"/>
          <a:lstStyle/>
          <a:p>
            <a:pPr algn="ctr">
              <a:defRPr sz="1400" b="1">
                <a:solidFill>
                  <a:srgbClr val="182F5C"/>
                </a:solidFill>
              </a:defRPr>
            </a:pPr>
            <a:r>
              <a:t>INTERMEDIATE</a:t>
            </a:r>
          </a:p>
          <a:p>
            <a:pPr algn="ctr">
              <a:defRPr sz="850">
                <a:solidFill>
                  <a:srgbClr val="5F6774"/>
                </a:solidFill>
              </a:defRPr>
            </a:pPr>
            <a:r>
              <a:t>validação/quarentena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3" y="178308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6FE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94576" y="1600200"/>
            <a:ext cx="19659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 rIns="73152"/>
          <a:lstStyle/>
          <a:p>
            <a:pPr algn="ctr">
              <a:defRPr sz="1400" b="1">
                <a:solidFill>
                  <a:srgbClr val="182F5C"/>
                </a:solidFill>
              </a:defRPr>
            </a:pPr>
            <a:r>
              <a:t>GOLD</a:t>
            </a:r>
          </a:p>
          <a:p>
            <a:pPr algn="ctr">
              <a:defRPr sz="850">
                <a:solidFill>
                  <a:srgbClr val="5F6774"/>
                </a:solidFill>
              </a:defRPr>
            </a:pPr>
            <a:r>
              <a:t>fato + agregados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178308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F6FE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1600200"/>
            <a:ext cx="19659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 rIns="73152"/>
          <a:lstStyle/>
          <a:p>
            <a:pPr algn="ctr">
              <a:defRPr sz="1400" b="1">
                <a:solidFill>
                  <a:srgbClr val="182F5C"/>
                </a:solidFill>
              </a:defRPr>
            </a:pPr>
            <a:r>
              <a:t>RESPOSTA</a:t>
            </a:r>
          </a:p>
          <a:p>
            <a:pPr algn="ctr">
              <a:defRPr sz="850">
                <a:solidFill>
                  <a:srgbClr val="5F6774"/>
                </a:solidFill>
              </a:defRPr>
            </a:pPr>
            <a:r>
              <a:t>consulta final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6118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 rIns="137160"/>
          <a:lstStyle/>
          <a:p>
            <a:pPr algn="ctr">
              <a:defRPr sz="1600" b="1">
                <a:solidFill>
                  <a:srgbClr val="182F5C"/>
                </a:solidFill>
              </a:defRPr>
            </a:pPr>
            <a:r>
              <a:t>O que mostrar ao vivo</a:t>
            </a:r>
          </a:p>
          <a:p>
            <a:pPr>
              <a:defRPr sz="1130">
                <a:solidFill>
                  <a:srgbClr val="1F6FEB"/>
                </a:solidFill>
              </a:defRPr>
            </a:pPr>
            <a:r>
              <a:t>› dbt docs generate</a:t>
            </a:r>
          </a:p>
          <a:p>
            <a:pPr>
              <a:defRPr sz="1130">
                <a:solidFill>
                  <a:srgbClr val="1F6FEB"/>
                </a:solidFill>
              </a:defRPr>
            </a:pPr>
            <a:r>
              <a:t>› dbt docs serve</a:t>
            </a:r>
          </a:p>
          <a:p>
            <a:pPr>
              <a:defRPr sz="1130">
                <a:solidFill>
                  <a:srgbClr val="1F6FEB"/>
                </a:solidFill>
              </a:defRPr>
            </a:pPr>
            <a:r>
              <a:t>› python -m src.time_travel</a:t>
            </a:r>
          </a:p>
          <a:p>
            <a:pPr>
              <a:defRPr sz="1130">
                <a:solidFill>
                  <a:srgbClr val="5F6774"/>
                </a:solidFill>
              </a:defRPr>
            </a:pPr>
            <a:r>
              <a:t>• DAG: source → staging → intermediate → Gold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0320"/>
            <a:ext cx="36118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 rIns="137160"/>
          <a:lstStyle/>
          <a:p>
            <a:pPr algn="ctr">
              <a:defRPr sz="1600" b="1">
                <a:solidFill>
                  <a:srgbClr val="182F5C"/>
                </a:solidFill>
              </a:defRPr>
            </a:pPr>
            <a:r>
              <a:t>Time travel do Delta</a:t>
            </a:r>
          </a:p>
          <a:p>
            <a:pPr>
              <a:defRPr sz="1130">
                <a:solidFill>
                  <a:srgbClr val="5F6774"/>
                </a:solidFill>
              </a:defRPr>
            </a:pPr>
            <a:r>
              <a:t>• Versão 0: primeira carga sintética</a:t>
            </a:r>
          </a:p>
          <a:p>
            <a:pPr>
              <a:defRPr sz="1130">
                <a:solidFill>
                  <a:srgbClr val="5F6774"/>
                </a:solidFill>
              </a:defRPr>
            </a:pPr>
            <a:r>
              <a:t>• Versão 1: segunda carga registrada</a:t>
            </a:r>
          </a:p>
          <a:p>
            <a:pPr>
              <a:defRPr sz="1130">
                <a:solidFill>
                  <a:srgbClr val="5F6774"/>
                </a:solidFill>
              </a:defRPr>
            </a:pPr>
            <a:r>
              <a:t>• Mesma consulta na versão atual e anterior</a:t>
            </a:r>
          </a:p>
          <a:p>
            <a:pPr>
              <a:defRPr sz="1130">
                <a:solidFill>
                  <a:srgbClr val="5F6774"/>
                </a:solidFill>
              </a:defRPr>
            </a:pPr>
            <a:r>
              <a:t>• Prova de rastreabilidade/reprocessamento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560320"/>
            <a:ext cx="36118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 rIns="137160"/>
          <a:lstStyle/>
          <a:p>
            <a:pPr algn="ctr">
              <a:defRPr sz="1600" b="1">
                <a:solidFill>
                  <a:srgbClr val="182F5C"/>
                </a:solidFill>
              </a:defRPr>
            </a:pPr>
            <a:r>
              <a:t>Duas decisões para defender</a:t>
            </a:r>
          </a:p>
          <a:p>
            <a:pPr>
              <a:defRPr sz="1050">
                <a:solidFill>
                  <a:srgbClr val="5F6774"/>
                </a:solidFill>
              </a:defRPr>
            </a:pPr>
            <a:r>
              <a:t>• Arquitetura: Raw preserva, Bronze versiona, Silver trata, Gold responde.</a:t>
            </a:r>
          </a:p>
          <a:p>
            <a:pPr>
              <a:defRPr sz="1050">
                <a:solidFill>
                  <a:srgbClr val="5F6774"/>
                </a:solidFill>
              </a:defRPr>
            </a:pPr>
            <a:r>
              <a:t>• Inválidos: quarentena, sem descarte silencioso.</a:t>
            </a:r>
          </a:p>
          <a:p>
            <a:pPr>
              <a:defRPr sz="1050">
                <a:solidFill>
                  <a:srgbClr val="5F6774"/>
                </a:solidFill>
              </a:defRPr>
            </a:pPr>
            <a:r>
              <a:t>• Extra: prioridade REMUME → RESME → RENAME em seed versionada.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37A4D"/>
                </a:solidFill>
              </a:defRPr>
            </a:pPr>
            <a:r>
              <a:t>Mensagem-chave: regra de negócio fica no dbt; dashboard e consulta final apenas consomem Gold.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FormalizaEnte — Tratamento de Dados</dc:title>
  <dc:subject>FormalizaEnte Data Pipeline</dc:subject>
  <dc:creator>OpenAI</dc:creator>
  <cp:lastModifiedBy>OpenAI</cp:lastModifiedBy>
  <cp:revision>1</cp:revision>
  <dcterms:created xsi:type="dcterms:W3CDTF">2026-09-24T20:16:51Z</dcterms:created>
  <dcterms:modified xsi:type="dcterms:W3CDTF">2026-09-24T20:16:51Z</dcterms:modified>
</cp:coreProperties>
</file>